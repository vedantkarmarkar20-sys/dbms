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16"/>
  </p:notesMasterIdLst>
  <p:sldIdLst>
    <p:sldId id="256" r:id="rId2"/>
    <p:sldId id="259" r:id="rId3"/>
    <p:sldId id="258" r:id="rId4"/>
    <p:sldId id="262" r:id="rId5"/>
    <p:sldId id="263" r:id="rId6"/>
    <p:sldId id="265" r:id="rId7"/>
    <p:sldId id="266" r:id="rId8"/>
    <p:sldId id="267" r:id="rId9"/>
    <p:sldId id="268" r:id="rId10"/>
    <p:sldId id="269" r:id="rId11"/>
    <p:sldId id="270" r:id="rId12"/>
    <p:sldId id="271" r:id="rId13"/>
    <p:sldId id="272"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6" d="100"/>
          <a:sy n="96" d="100"/>
        </p:scale>
        <p:origin x="106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57A213-BE6B-43C7-B1FE-AADA6081DE38}" type="datetimeFigureOut">
              <a:rPr lang="en-US" smtClean="0"/>
              <a:t>10/12/2026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962463-EC55-413E-926C-081D28A3F7DD}" type="slidenum">
              <a:rPr lang="en-US" smtClean="0"/>
              <a:t>‹#›</a:t>
            </a:fld>
            <a:endParaRPr lang="en-US"/>
          </a:p>
        </p:txBody>
      </p:sp>
    </p:spTree>
    <p:extLst>
      <p:ext uri="{BB962C8B-B14F-4D97-AF65-F5344CB8AC3E}">
        <p14:creationId xmlns:p14="http://schemas.microsoft.com/office/powerpoint/2010/main" val="145099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E710ACA-83A2-4DA3-93B6-E68125FA916E}" type="datetime1">
              <a:rPr lang="en-US" smtClean="0"/>
              <a:t>10/12/2026</a:t>
            </a:fld>
            <a:endParaRPr lang="en-US"/>
          </a:p>
        </p:txBody>
      </p:sp>
      <p:sp>
        <p:nvSpPr>
          <p:cNvPr id="17" name="Footer Placeholder 16"/>
          <p:cNvSpPr>
            <a:spLocks noGrp="1"/>
          </p:cNvSpPr>
          <p:nvPr>
            <p:ph type="ftr" sz="quarter" idx="11"/>
          </p:nvPr>
        </p:nvSpPr>
        <p:spPr/>
        <p:txBody>
          <a:bodyPr/>
          <a:lstStyle/>
          <a:p>
            <a:r>
              <a:rPr lang="en-US"/>
              <a:t>Department of Electrical and Electronics Engineering</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8A17782-1209-4799-A160-B341E473A7CD}" type="datetime1">
              <a:rPr lang="en-US" smtClean="0"/>
              <a:t>10/12/2026</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88CA135-9B52-424F-9138-6CFF67B8E8AC}" type="datetime1">
              <a:rPr lang="en-US" smtClean="0"/>
              <a:t>10/12/2026</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Department of Electrical and Electronics Engineering</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441A7F9-CCB1-40D1-B9CC-0E17368C26D2}" type="datetime1">
              <a:rPr lang="en-US" smtClean="0"/>
              <a:t>10/12/2026</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18F5563-252C-4B1A-A2FF-CA8FA2FDE506}" type="datetime1">
              <a:rPr lang="en-US" smtClean="0"/>
              <a:t>10/12/2026</a:t>
            </a:fld>
            <a:endParaRPr lang="en-US"/>
          </a:p>
        </p:txBody>
      </p:sp>
      <p:sp>
        <p:nvSpPr>
          <p:cNvPr id="8" name="Footer Placeholder 7"/>
          <p:cNvSpPr>
            <a:spLocks noGrp="1"/>
          </p:cNvSpPr>
          <p:nvPr>
            <p:ph type="ftr" sz="quarter" idx="11"/>
          </p:nvPr>
        </p:nvSpPr>
        <p:spPr/>
        <p:txBody>
          <a:bodyPr/>
          <a:lstStyle/>
          <a:p>
            <a:r>
              <a:rPr lang="en-US"/>
              <a:t>Department of Electrical and Electronics Engineering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064672-CBD2-4792-B35D-D986D8EA46BE}" type="datetime1">
              <a:rPr lang="en-US" smtClean="0"/>
              <a:t>10/12/2026</a:t>
            </a:fld>
            <a:endParaRPr lang="en-US"/>
          </a:p>
        </p:txBody>
      </p:sp>
      <p:sp>
        <p:nvSpPr>
          <p:cNvPr id="4" name="Footer Placeholder 3"/>
          <p:cNvSpPr>
            <a:spLocks noGrp="1"/>
          </p:cNvSpPr>
          <p:nvPr>
            <p:ph type="ftr" sz="quarter" idx="11"/>
          </p:nvPr>
        </p:nvSpPr>
        <p:spPr/>
        <p:txBody>
          <a:bodyPr/>
          <a:lstStyle/>
          <a:p>
            <a:r>
              <a:rPr lang="en-US"/>
              <a:t>Department of Electrical and Electronics Engineering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772B42-BB0F-498C-9EC8-BDFA99A52050}" type="datetime1">
              <a:rPr lang="en-US" smtClean="0"/>
              <a:t>10/12/2026</a:t>
            </a:fld>
            <a:endParaRPr lang="en-US"/>
          </a:p>
        </p:txBody>
      </p:sp>
      <p:sp>
        <p:nvSpPr>
          <p:cNvPr id="3" name="Footer Placeholder 2"/>
          <p:cNvSpPr>
            <a:spLocks noGrp="1"/>
          </p:cNvSpPr>
          <p:nvPr>
            <p:ph type="ftr" sz="quarter" idx="11"/>
          </p:nvPr>
        </p:nvSpPr>
        <p:spPr/>
        <p:txBody>
          <a:bodyPr/>
          <a:lstStyle/>
          <a:p>
            <a:r>
              <a:rPr lang="en-US"/>
              <a:t>Department of Electrical and Electronics Engineering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B5E85A-AB81-4DA3-BDE5-91D5E74BA487}" type="datetime1">
              <a:rPr lang="en-US" smtClean="0"/>
              <a:t>10/12/2026</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D4A742F-05D3-46D5-ABB2-2FA098C4F8D5}" type="datetime1">
              <a:rPr lang="en-US" smtClean="0"/>
              <a:t>10/12/2026</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Department of Electrical and Electronics Engineering</a:t>
            </a: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A5E980-1C1E-4513-85B5-75C020A35D3D}" type="datetime1">
              <a:rPr lang="en-US" smtClean="0"/>
              <a:t>10/12/2026</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6BA1640-484D-4D57-A6EC-A09247DA6DEF}" type="datetime1">
              <a:rPr lang="en-US" smtClean="0"/>
              <a:t>10/12/2026</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2D738C1-5CA4-4D62-9FF9-A967F33B25BD}" type="datetime1">
              <a:rPr lang="en-US" smtClean="0"/>
              <a:t>10/12/2026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Department of Electrical and Electronics Engineering</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mongodb.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3147525"/>
            <a:ext cx="7924800" cy="3177075"/>
          </a:xfrm>
        </p:spPr>
        <p:txBody>
          <a:bodyPr>
            <a:normAutofit/>
          </a:bodyPr>
          <a:lstStyle/>
          <a:p>
            <a:endParaRPr lang="en-US" sz="2800" b="1" kern="0" dirty="0">
              <a:solidFill>
                <a:schemeClr val="bg1">
                  <a:lumMod val="50000"/>
                </a:schemeClr>
              </a:solidFill>
              <a:latin typeface="Times New Roman" panose="02020603050405020304" pitchFamily="18" charset="0"/>
              <a:ea typeface="Times New Roman" panose="02020603050405020304" pitchFamily="18" charset="0"/>
            </a:endParaRPr>
          </a:p>
          <a:p>
            <a:r>
              <a:rPr lang="en-US" sz="2800" b="1" kern="0" dirty="0">
                <a:solidFill>
                  <a:schemeClr val="bg1">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Course: </a:t>
            </a:r>
            <a:r>
              <a:rPr lang="en-US" b="1" dirty="0">
                <a:latin typeface="Times New Roman" panose="02020603050405020304" pitchFamily="18" charset="0"/>
                <a:cs typeface="Times New Roman" panose="02020603050405020304" pitchFamily="18" charset="0"/>
              </a:rPr>
              <a:t>Database Management System </a:t>
            </a:r>
          </a:p>
          <a:p>
            <a:r>
              <a:rPr lang="en-US" b="1" dirty="0">
                <a:latin typeface="Times New Roman" panose="02020603050405020304" pitchFamily="18" charset="0"/>
                <a:cs typeface="Times New Roman" panose="02020603050405020304" pitchFamily="18" charset="0"/>
              </a:rPr>
              <a:t>By</a:t>
            </a:r>
          </a:p>
          <a:p>
            <a:pPr>
              <a:spcBef>
                <a:spcPts val="1195"/>
              </a:spcBef>
            </a:pPr>
            <a:r>
              <a:rPr lang="en-US" sz="1800" b="1" dirty="0">
                <a:latin typeface="Times New Roman" panose="02020603050405020304" pitchFamily="18" charset="0"/>
                <a:cs typeface="Times New Roman" panose="02020603050405020304" pitchFamily="18" charset="0"/>
              </a:rPr>
              <a:t>Vedant Sameer Karmarkar</a:t>
            </a:r>
          </a:p>
          <a:p>
            <a:pPr marL="0" marR="0" algn="ctr">
              <a:spcBef>
                <a:spcPts val="1195"/>
              </a:spcBef>
              <a:spcAft>
                <a:spcPts val="0"/>
              </a:spcAft>
            </a:pPr>
            <a:r>
              <a:rPr lang="en-US" sz="1800" b="1" dirty="0">
                <a:latin typeface="Times New Roman" panose="02020603050405020304" pitchFamily="18" charset="0"/>
                <a:ea typeface="Times New Roman" panose="02020603050405020304" pitchFamily="18" charset="0"/>
                <a:cs typeface="Times New Roman" panose="02020603050405020304" pitchFamily="18" charset="0"/>
              </a:rPr>
              <a:t>TY ECE AIML A G3</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itle 1"/>
          <p:cNvSpPr>
            <a:spLocks noGrp="1"/>
          </p:cNvSpPr>
          <p:nvPr>
            <p:ph type="ctrTitle"/>
          </p:nvPr>
        </p:nvSpPr>
        <p:spPr>
          <a:xfrm>
            <a:off x="457200" y="1524550"/>
            <a:ext cx="8534400" cy="1470025"/>
          </a:xfrm>
        </p:spPr>
        <p:txBody>
          <a:bodyPr>
            <a:normAutofit/>
          </a:bodyPr>
          <a:lstStyle/>
          <a:p>
            <a:r>
              <a:rPr lang="en-US" dirty="0"/>
              <a:t>Interactive Story Continuity and Entity Tracking Database</a:t>
            </a:r>
            <a:endParaRPr lang="en-US" b="1" dirty="0"/>
          </a:p>
        </p:txBody>
      </p:sp>
      <p:pic>
        <p:nvPicPr>
          <p:cNvPr id="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432" y="2286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2C81FA3-C5B7-4C98-A7D0-738D1325CCD6}"/>
              </a:ext>
            </a:extLst>
          </p:cNvPr>
          <p:cNvSpPr txBox="1"/>
          <p:nvPr/>
        </p:nvSpPr>
        <p:spPr>
          <a:xfrm>
            <a:off x="1828800" y="504908"/>
            <a:ext cx="5943600" cy="584775"/>
          </a:xfrm>
          <a:prstGeom prst="rect">
            <a:avLst/>
          </a:prstGeom>
          <a:noFill/>
        </p:spPr>
        <p:txBody>
          <a:bodyPr wrap="square" rtlCol="0">
            <a:spAutoFit/>
          </a:bodyPr>
          <a:lstStyle/>
          <a:p>
            <a:r>
              <a:rPr lang="en-US" sz="3200" b="1" kern="0" dirty="0">
                <a:solidFill>
                  <a:schemeClr val="bg1">
                    <a:lumMod val="50000"/>
                  </a:schemeClr>
                </a:solidFill>
                <a:effectLst/>
                <a:latin typeface="Times New Roman" panose="02020603050405020304" pitchFamily="18" charset="0"/>
                <a:ea typeface="Times New Roman" panose="02020603050405020304" pitchFamily="18" charset="0"/>
              </a:rPr>
              <a:t>          TY ECE AIML A</a:t>
            </a:r>
          </a:p>
        </p:txBody>
      </p:sp>
    </p:spTree>
    <p:extLst>
      <p:ext uri="{BB962C8B-B14F-4D97-AF65-F5344CB8AC3E}">
        <p14:creationId xmlns:p14="http://schemas.microsoft.com/office/powerpoint/2010/main" val="141681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356" y="442119"/>
            <a:ext cx="7162800" cy="563562"/>
          </a:xfrm>
        </p:spPr>
        <p:txBody>
          <a:bodyPr>
            <a:normAutofit fontScale="90000"/>
          </a:bodyPr>
          <a:lstStyle/>
          <a:p>
            <a:r>
              <a:rPr lang="en-US" dirty="0"/>
              <a:t>Presentation flow</a:t>
            </a:r>
          </a:p>
        </p:txBody>
      </p:sp>
      <p:sp>
        <p:nvSpPr>
          <p:cNvPr id="3" name="Content Placeholder 2"/>
          <p:cNvSpPr>
            <a:spLocks noGrp="1"/>
          </p:cNvSpPr>
          <p:nvPr>
            <p:ph sz="quarter" idx="1"/>
          </p:nvPr>
        </p:nvSpPr>
        <p:spPr>
          <a:xfrm>
            <a:off x="1295400" y="1143000"/>
            <a:ext cx="4038600" cy="5181600"/>
          </a:xfrm>
        </p:spPr>
        <p:txBody>
          <a:bodyPr>
            <a:normAutofit fontScale="92500" lnSpcReduction="20000"/>
          </a:bodyPr>
          <a:lstStyle/>
          <a:p>
            <a:pPr marL="177800" marR="1384935" indent="0" algn="just">
              <a:spcBef>
                <a:spcPts val="0"/>
              </a:spcBef>
              <a:buNone/>
            </a:pPr>
            <a:endParaRPr lang="en-US" sz="1000" dirty="0">
              <a:solidFill>
                <a:srgbClr val="000000"/>
              </a:solidFill>
              <a:latin typeface="Times New Roman" panose="02020603050405020304" pitchFamily="18" charset="0"/>
              <a:ea typeface="Times New Roman" panose="02020603050405020304" pitchFamily="18" charset="0"/>
            </a:endParaRPr>
          </a:p>
          <a:p>
            <a:pPr>
              <a:buFont typeface="+mj-lt"/>
              <a:buAutoNum type="arabicPeriod"/>
            </a:pPr>
            <a:r>
              <a:rPr lang="en-US" sz="1600" b="1" dirty="0"/>
              <a:t>Introduction</a:t>
            </a:r>
            <a:endParaRPr lang="en-US" sz="1600" dirty="0"/>
          </a:p>
          <a:p>
            <a:pPr lvl="1">
              <a:buFont typeface="+mj-lt"/>
              <a:buAutoNum type="arabicPeriod"/>
            </a:pPr>
            <a:r>
              <a:rPr lang="en-US" sz="1600" dirty="0"/>
              <a:t>Brief overview of the project and problem statement</a:t>
            </a:r>
          </a:p>
          <a:p>
            <a:pPr>
              <a:buFont typeface="+mj-lt"/>
              <a:buAutoNum type="arabicPeriod"/>
            </a:pPr>
            <a:r>
              <a:rPr lang="en-US" sz="1600" b="1" dirty="0"/>
              <a:t>Project Aims and Objectives</a:t>
            </a:r>
            <a:endParaRPr lang="en-US" sz="1600" dirty="0"/>
          </a:p>
          <a:p>
            <a:pPr lvl="1">
              <a:buFont typeface="+mj-lt"/>
              <a:buAutoNum type="arabicPeriod"/>
            </a:pPr>
            <a:r>
              <a:rPr lang="en-US" sz="1600" dirty="0"/>
              <a:t>Key goals and intended outcomes</a:t>
            </a:r>
          </a:p>
          <a:p>
            <a:pPr>
              <a:buFont typeface="+mj-lt"/>
              <a:buAutoNum type="arabicPeriod"/>
            </a:pPr>
            <a:r>
              <a:rPr lang="en-US" sz="1600" b="1" dirty="0"/>
              <a:t>Background &amp; Existing System</a:t>
            </a:r>
            <a:endParaRPr lang="en-US" sz="1600" dirty="0"/>
          </a:p>
          <a:p>
            <a:pPr lvl="1">
              <a:buFont typeface="+mj-lt"/>
              <a:buAutoNum type="arabicPeriod"/>
            </a:pPr>
            <a:r>
              <a:rPr lang="en-US" sz="1600" dirty="0"/>
              <a:t>Current situation and its limitations</a:t>
            </a:r>
          </a:p>
          <a:p>
            <a:pPr>
              <a:buFont typeface="+mj-lt"/>
              <a:buAutoNum type="arabicPeriod"/>
            </a:pPr>
            <a:r>
              <a:rPr lang="en-US" sz="1600" b="1" dirty="0"/>
              <a:t>Proposed System</a:t>
            </a:r>
            <a:endParaRPr lang="en-US" sz="1600" dirty="0"/>
          </a:p>
          <a:p>
            <a:pPr lvl="1">
              <a:buFont typeface="+mj-lt"/>
              <a:buAutoNum type="arabicPeriod"/>
            </a:pPr>
            <a:r>
              <a:rPr lang="en-US" sz="1600" dirty="0"/>
              <a:t>Features and improvements over the existing system</a:t>
            </a:r>
          </a:p>
          <a:p>
            <a:pPr>
              <a:buFont typeface="+mj-lt"/>
              <a:buAutoNum type="arabicPeriod"/>
            </a:pPr>
            <a:r>
              <a:rPr lang="en-US" sz="1600" b="1" dirty="0"/>
              <a:t>Software Requirements &amp; Tools Used</a:t>
            </a:r>
            <a:endParaRPr lang="en-US" sz="1600" dirty="0"/>
          </a:p>
          <a:p>
            <a:pPr lvl="1">
              <a:buFont typeface="+mj-lt"/>
              <a:buAutoNum type="arabicPeriod"/>
            </a:pPr>
            <a:r>
              <a:rPr lang="en-US" sz="1600" dirty="0"/>
              <a:t>Hardware/software specifications</a:t>
            </a:r>
          </a:p>
          <a:p>
            <a:pPr lvl="1">
              <a:buFont typeface="+mj-lt"/>
              <a:buAutoNum type="arabicPeriod"/>
            </a:pPr>
            <a:r>
              <a:rPr lang="en-US" sz="1600" dirty="0"/>
              <a:t>Development tools, frameworks, and database</a:t>
            </a:r>
          </a:p>
          <a:p>
            <a:pPr>
              <a:buFont typeface="+mj-lt"/>
              <a:buAutoNum type="arabicPeriod"/>
            </a:pPr>
            <a:r>
              <a:rPr lang="en-US" sz="1600" b="1" dirty="0"/>
              <a:t>System Design</a:t>
            </a:r>
            <a:endParaRPr lang="en-US" sz="1600" dirty="0"/>
          </a:p>
          <a:p>
            <a:pPr lvl="1">
              <a:buFont typeface="+mj-lt"/>
              <a:buAutoNum type="arabicPeriod"/>
            </a:pPr>
            <a:r>
              <a:rPr lang="en-US" sz="1600" b="1" dirty="0"/>
              <a:t>Front-End Design</a:t>
            </a:r>
            <a:r>
              <a:rPr lang="en-US" sz="1600" dirty="0"/>
              <a:t> (UI/UX, user interaction flow)</a:t>
            </a:r>
          </a:p>
          <a:p>
            <a:pPr lvl="1">
              <a:buFont typeface="+mj-lt"/>
              <a:buAutoNum type="arabicPeriod"/>
            </a:pPr>
            <a:r>
              <a:rPr lang="en-US" sz="1600" b="1" dirty="0"/>
              <a:t>Back-End Design</a:t>
            </a:r>
            <a:r>
              <a:rPr lang="en-US" sz="1600" dirty="0"/>
              <a:t> (server logic, database connectivity, APIs)</a:t>
            </a:r>
          </a:p>
          <a:p>
            <a:pPr lvl="1">
              <a:buFont typeface="+mj-lt"/>
              <a:buAutoNum type="arabicPeriod"/>
            </a:pPr>
            <a:r>
              <a:rPr lang="en-US" sz="1600" b="1" dirty="0"/>
              <a:t>ER Diagram</a:t>
            </a:r>
            <a:r>
              <a:rPr lang="en-US" sz="1600" dirty="0"/>
              <a:t> (database relationships)</a:t>
            </a:r>
          </a:p>
          <a:p>
            <a:pPr lvl="1">
              <a:buFont typeface="+mj-lt"/>
              <a:buAutoNum type="arabicPeriod"/>
            </a:pPr>
            <a:r>
              <a:rPr lang="en-US" sz="1600" b="1" dirty="0"/>
              <a:t>Table Design (Schema)</a:t>
            </a:r>
            <a:endParaRPr lang="en-US" sz="1600" dirty="0"/>
          </a:p>
          <a:p>
            <a:endParaRPr lang="en-US" sz="1000" dirty="0"/>
          </a:p>
        </p:txBody>
      </p:sp>
      <p:pic>
        <p:nvPicPr>
          <p:cNvPr id="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8849C6BA-CFDD-4E52-9057-D4BB53FDE2A0}"/>
              </a:ext>
            </a:extLst>
          </p:cNvPr>
          <p:cNvSpPr>
            <a:spLocks noGrp="1"/>
          </p:cNvSpPr>
          <p:nvPr>
            <p:ph type="dt" sz="half" idx="10"/>
          </p:nvPr>
        </p:nvSpPr>
        <p:spPr/>
        <p:txBody>
          <a:bodyPr/>
          <a:lstStyle/>
          <a:p>
            <a:fld id="{679A6765-1D91-432C-8446-4F0D15AF67BA}" type="datetime1">
              <a:rPr lang="en-US" smtClean="0"/>
              <a:t>10/12/2026</a:t>
            </a:fld>
            <a:endParaRPr lang="en-US"/>
          </a:p>
        </p:txBody>
      </p:sp>
      <p:sp>
        <p:nvSpPr>
          <p:cNvPr id="6" name="Footer Placeholder 5">
            <a:extLst>
              <a:ext uri="{FF2B5EF4-FFF2-40B4-BE49-F238E27FC236}">
                <a16:creationId xmlns:a16="http://schemas.microsoft.com/office/drawing/2014/main" id="{E88892CD-74FA-44FA-8D48-1349CDA20A4B}"/>
              </a:ext>
            </a:extLst>
          </p:cNvPr>
          <p:cNvSpPr>
            <a:spLocks noGrp="1"/>
          </p:cNvSpPr>
          <p:nvPr>
            <p:ph type="ftr" sz="quarter" idx="11"/>
          </p:nvPr>
        </p:nvSpPr>
        <p:spPr/>
        <p:txBody>
          <a:bodyPr/>
          <a:lstStyle/>
          <a:p>
            <a:r>
              <a:rPr lang="en-US" dirty="0"/>
              <a:t>Department of Electrical and Electronics Engineering</a:t>
            </a:r>
          </a:p>
        </p:txBody>
      </p:sp>
      <p:sp>
        <p:nvSpPr>
          <p:cNvPr id="7" name="Slide Number Placeholder 6">
            <a:extLst>
              <a:ext uri="{FF2B5EF4-FFF2-40B4-BE49-F238E27FC236}">
                <a16:creationId xmlns:a16="http://schemas.microsoft.com/office/drawing/2014/main" id="{F663FDF5-853C-4882-91BE-8F6025F4FE9E}"/>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9" name="TextBox 8">
            <a:extLst>
              <a:ext uri="{FF2B5EF4-FFF2-40B4-BE49-F238E27FC236}">
                <a16:creationId xmlns:a16="http://schemas.microsoft.com/office/drawing/2014/main" id="{15ED52F4-65A8-2BC9-8F55-2D65B2BFCDD7}"/>
              </a:ext>
            </a:extLst>
          </p:cNvPr>
          <p:cNvSpPr txBox="1"/>
          <p:nvPr/>
        </p:nvSpPr>
        <p:spPr>
          <a:xfrm>
            <a:off x="5177956" y="1295400"/>
            <a:ext cx="3505200" cy="2893100"/>
          </a:xfrm>
          <a:prstGeom prst="rect">
            <a:avLst/>
          </a:prstGeom>
          <a:noFill/>
        </p:spPr>
        <p:txBody>
          <a:bodyPr wrap="square">
            <a:spAutoFit/>
          </a:bodyPr>
          <a:lstStyle/>
          <a:p>
            <a:pPr marL="342900" indent="-342900">
              <a:buFont typeface="+mj-lt"/>
              <a:buAutoNum type="arabicPeriod" startAt="7"/>
            </a:pPr>
            <a:r>
              <a:rPr lang="en-US" sz="1400" b="1" dirty="0"/>
              <a:t>System Implementation</a:t>
            </a:r>
            <a:endParaRPr lang="en-US" sz="1400" dirty="0"/>
          </a:p>
          <a:p>
            <a:pPr lvl="1">
              <a:buFont typeface="+mj-lt"/>
              <a:buAutoNum type="arabicPeriod"/>
            </a:pPr>
            <a:r>
              <a:rPr lang="en-US" sz="1400" dirty="0"/>
              <a:t>Integration of front-end, back-end, and database</a:t>
            </a:r>
          </a:p>
          <a:p>
            <a:pPr lvl="1">
              <a:buFont typeface="+mj-lt"/>
              <a:buAutoNum type="arabicPeriod"/>
            </a:pPr>
            <a:r>
              <a:rPr lang="en-US" sz="1400" dirty="0"/>
              <a:t>Key modules and workflows</a:t>
            </a:r>
          </a:p>
          <a:p>
            <a:pPr>
              <a:buFont typeface="+mj-lt"/>
              <a:buAutoNum type="arabicPeriod" startAt="7"/>
            </a:pPr>
            <a:r>
              <a:rPr lang="en-US" sz="1400" b="1" dirty="0"/>
              <a:t>Results &amp; Discussion</a:t>
            </a:r>
            <a:endParaRPr lang="en-US" sz="1400" dirty="0"/>
          </a:p>
          <a:p>
            <a:pPr lvl="1">
              <a:buFont typeface="+mj-lt"/>
              <a:buAutoNum type="arabicPeriod"/>
            </a:pPr>
            <a:r>
              <a:rPr lang="en-US" sz="1400" dirty="0"/>
              <a:t>Outputs, screenshots of the website, and performance analysis</a:t>
            </a:r>
          </a:p>
          <a:p>
            <a:pPr>
              <a:buFont typeface="+mj-lt"/>
              <a:buAutoNum type="arabicPeriod" startAt="7"/>
            </a:pPr>
            <a:r>
              <a:rPr lang="en-US" sz="1400" b="1" dirty="0"/>
              <a:t>Applications</a:t>
            </a:r>
            <a:endParaRPr lang="en-US" sz="1400" dirty="0"/>
          </a:p>
          <a:p>
            <a:pPr lvl="1">
              <a:buFont typeface="+mj-lt"/>
              <a:buAutoNum type="arabicPeriod"/>
            </a:pPr>
            <a:r>
              <a:rPr lang="en-US" sz="1400" dirty="0"/>
              <a:t>Real-world usage and industry relevance</a:t>
            </a:r>
          </a:p>
          <a:p>
            <a:pPr>
              <a:buFont typeface="+mj-lt"/>
              <a:buAutoNum type="arabicPeriod" startAt="7"/>
            </a:pPr>
            <a:r>
              <a:rPr lang="en-US" sz="1400" b="1" dirty="0"/>
              <a:t>Conclusion &amp; Future Scope</a:t>
            </a:r>
            <a:endParaRPr lang="en-US" sz="1400" dirty="0"/>
          </a:p>
          <a:p>
            <a:pPr lvl="1">
              <a:buFont typeface="+mj-lt"/>
              <a:buAutoNum type="arabicPeriod"/>
            </a:pPr>
            <a:r>
              <a:rPr lang="en-US" sz="1400" dirty="0"/>
              <a:t>Summary and possible extensions</a:t>
            </a:r>
          </a:p>
          <a:p>
            <a:pPr>
              <a:buFont typeface="+mj-lt"/>
              <a:buAutoNum type="arabicPeriod" startAt="7"/>
            </a:pPr>
            <a:r>
              <a:rPr lang="en-US" sz="1400" b="1" dirty="0"/>
              <a:t>References</a:t>
            </a:r>
            <a:endParaRPr lang="en-US" sz="1400" dirty="0"/>
          </a:p>
          <a:p>
            <a:pPr lvl="1"/>
            <a:r>
              <a:rPr lang="en-US" sz="1400" dirty="0"/>
              <a:t>Sources, research papers, tools consulted</a:t>
            </a:r>
          </a:p>
        </p:txBody>
      </p:sp>
    </p:spTree>
    <p:extLst>
      <p:ext uri="{BB962C8B-B14F-4D97-AF65-F5344CB8AC3E}">
        <p14:creationId xmlns:p14="http://schemas.microsoft.com/office/powerpoint/2010/main" val="1580870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752600"/>
            <a:ext cx="7772400" cy="4267200"/>
          </a:xfrm>
        </p:spPr>
        <p:txBody>
          <a:bodyPr/>
          <a:lstStyle/>
          <a:p>
            <a:pPr lvl="0"/>
            <a:r>
              <a:rPr lang="en-US" b="1" dirty="0"/>
              <a:t>Overview:</a:t>
            </a:r>
            <a:r>
              <a:rPr lang="en-US" dirty="0"/>
              <a:t> A full-stack web application designed to track dynamic, unstructured narrative data (character locations, shifting companions, and plot notes). </a:t>
            </a:r>
          </a:p>
          <a:p>
            <a:pPr lvl="0"/>
            <a:r>
              <a:rPr lang="en-US" b="1" dirty="0"/>
              <a:t>Problem Statement:</a:t>
            </a:r>
            <a:r>
              <a:rPr lang="en-US" dirty="0"/>
              <a:t> Maintaining narrative continuity in complex fiction requires managing highly variable data. Traditional Relational Database Management Systems (RDBMS) struggle with this due to rigid schema requirements, resulting in fragmented data and complex query overhead.</a:t>
            </a:r>
          </a:p>
          <a:p>
            <a:endParaRPr lang="en-US" dirty="0"/>
          </a:p>
        </p:txBody>
      </p:sp>
      <p:pic>
        <p:nvPicPr>
          <p:cNvPr id="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808EE047-9D00-4297-AE2A-FDFC35CFC58A}"/>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7AD91CD3-194B-4C92-9C7B-31622B30E5C2}"/>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220C9B6C-E5E2-4517-B410-5B195F5691D4}"/>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8" name="TextBox 7">
            <a:extLst>
              <a:ext uri="{FF2B5EF4-FFF2-40B4-BE49-F238E27FC236}">
                <a16:creationId xmlns:a16="http://schemas.microsoft.com/office/drawing/2014/main" id="{F5DC3DB6-A1DF-4D1E-D094-1C29F1206EA7}"/>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035366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497A6-24AC-0A86-0951-235C53FB38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1FE957-5C20-6E46-E009-C76E4FC19AA4}"/>
              </a:ext>
            </a:extLst>
          </p:cNvPr>
          <p:cNvSpPr>
            <a:spLocks noGrp="1"/>
          </p:cNvSpPr>
          <p:nvPr>
            <p:ph sz="quarter" idx="1"/>
          </p:nvPr>
        </p:nvSpPr>
        <p:spPr>
          <a:xfrm>
            <a:off x="914400" y="1752600"/>
            <a:ext cx="7772400" cy="4267200"/>
          </a:xfrm>
        </p:spPr>
        <p:txBody>
          <a:bodyPr/>
          <a:lstStyle/>
          <a:p>
            <a:pPr lvl="0"/>
            <a:r>
              <a:rPr lang="en-US" dirty="0"/>
              <a:t>To design a NoSQL database schema optimized for hierarchical and unstructured creative data. </a:t>
            </a:r>
          </a:p>
          <a:p>
            <a:pPr lvl="0"/>
            <a:endParaRPr lang="en-US" dirty="0"/>
          </a:p>
          <a:p>
            <a:pPr lvl="0"/>
            <a:r>
              <a:rPr lang="en-US" dirty="0"/>
              <a:t>To develop a RESTful API backend to handle asynchronous data routing between the client and server. </a:t>
            </a:r>
          </a:p>
          <a:p>
            <a:pPr lvl="0"/>
            <a:endParaRPr lang="en-US" dirty="0"/>
          </a:p>
          <a:p>
            <a:pPr lvl="0"/>
            <a:r>
              <a:rPr lang="en-US" dirty="0"/>
              <a:t>To build an interactive, real-time UI dashboard for seamless CRUD operations. </a:t>
            </a:r>
          </a:p>
          <a:p>
            <a:pPr marL="0" indent="0">
              <a:buNone/>
            </a:pPr>
            <a:endParaRPr lang="en-US" dirty="0"/>
          </a:p>
        </p:txBody>
      </p:sp>
      <p:pic>
        <p:nvPicPr>
          <p:cNvPr id="4" name="Picture 7">
            <a:extLst>
              <a:ext uri="{FF2B5EF4-FFF2-40B4-BE49-F238E27FC236}">
                <a16:creationId xmlns:a16="http://schemas.microsoft.com/office/drawing/2014/main" id="{55483AF5-2980-FED3-234D-049B00443D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14161B4C-735B-A343-A661-6C6B06EF041C}"/>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4995BCC4-77E3-A8FB-C3BF-4F10622224DB}"/>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C1D708D0-8548-5346-79C2-181EF2135810}"/>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8" name="TextBox 7">
            <a:extLst>
              <a:ext uri="{FF2B5EF4-FFF2-40B4-BE49-F238E27FC236}">
                <a16:creationId xmlns:a16="http://schemas.microsoft.com/office/drawing/2014/main" id="{02B66D40-DE89-5302-944C-9EB60AAFD190}"/>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AIMS &amp; OBJECTIVES</a:t>
            </a:r>
          </a:p>
        </p:txBody>
      </p:sp>
    </p:spTree>
    <p:extLst>
      <p:ext uri="{BB962C8B-B14F-4D97-AF65-F5344CB8AC3E}">
        <p14:creationId xmlns:p14="http://schemas.microsoft.com/office/powerpoint/2010/main" val="2959162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1EA7-7409-9693-7620-B692B7C2F9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1E746-F3EF-48A4-D096-42B84A1C1190}"/>
              </a:ext>
            </a:extLst>
          </p:cNvPr>
          <p:cNvSpPr>
            <a:spLocks noGrp="1"/>
          </p:cNvSpPr>
          <p:nvPr>
            <p:ph sz="quarter" idx="1"/>
          </p:nvPr>
        </p:nvSpPr>
        <p:spPr>
          <a:xfrm>
            <a:off x="914400" y="1752600"/>
            <a:ext cx="7772400" cy="4267200"/>
          </a:xfrm>
        </p:spPr>
        <p:txBody>
          <a:bodyPr/>
          <a:lstStyle/>
          <a:p>
            <a:pPr lvl="0"/>
            <a:r>
              <a:rPr lang="en-US" b="1" dirty="0"/>
              <a:t>Current Situation:</a:t>
            </a:r>
            <a:r>
              <a:rPr lang="en-US" dirty="0"/>
              <a:t> Standard data tracking systems rely on static documents or rigid tabular SQL databases (like MySQL). </a:t>
            </a:r>
          </a:p>
          <a:p>
            <a:pPr lvl="0"/>
            <a:endParaRPr lang="en-US" dirty="0"/>
          </a:p>
          <a:p>
            <a:pPr lvl="0"/>
            <a:r>
              <a:rPr lang="en-US" b="1" dirty="0"/>
              <a:t>Limitations:</a:t>
            </a:r>
            <a:r>
              <a:rPr lang="en-US" dirty="0"/>
              <a:t> SQL forces unstructured creative data into strict formats. Tracking variable arrays—like a changing list of a character's companions—requires creating separate "bridging" tables, leading to expensive JOIN operations and empty (NULL) fields. </a:t>
            </a:r>
          </a:p>
          <a:p>
            <a:pPr marL="0" indent="0">
              <a:buNone/>
            </a:pPr>
            <a:endParaRPr lang="en-US" dirty="0"/>
          </a:p>
        </p:txBody>
      </p:sp>
      <p:pic>
        <p:nvPicPr>
          <p:cNvPr id="4" name="Picture 7">
            <a:extLst>
              <a:ext uri="{FF2B5EF4-FFF2-40B4-BE49-F238E27FC236}">
                <a16:creationId xmlns:a16="http://schemas.microsoft.com/office/drawing/2014/main" id="{BCB2D960-ED2E-7243-9316-64FCA64F3C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ED38EC5D-9D11-42F9-B29E-92CEEBDB56E1}"/>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69C7FB60-6BAC-D521-67A2-FC1E1FC5C7F2}"/>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0FE58E29-42D9-5784-DBA3-1AAC588F0B66}"/>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8" name="TextBox 7">
            <a:extLst>
              <a:ext uri="{FF2B5EF4-FFF2-40B4-BE49-F238E27FC236}">
                <a16:creationId xmlns:a16="http://schemas.microsoft.com/office/drawing/2014/main" id="{74E37E68-CF3A-195F-6057-9366A916EA6C}"/>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BACKGROUND</a:t>
            </a:r>
          </a:p>
        </p:txBody>
      </p:sp>
    </p:spTree>
    <p:extLst>
      <p:ext uri="{BB962C8B-B14F-4D97-AF65-F5344CB8AC3E}">
        <p14:creationId xmlns:p14="http://schemas.microsoft.com/office/powerpoint/2010/main" val="70014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96B91-596C-8ED1-4453-FB7C0A8F10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475331-ACD9-517A-BA3E-22C6976BD2BF}"/>
              </a:ext>
            </a:extLst>
          </p:cNvPr>
          <p:cNvSpPr>
            <a:spLocks noGrp="1"/>
          </p:cNvSpPr>
          <p:nvPr>
            <p:ph sz="quarter" idx="1"/>
          </p:nvPr>
        </p:nvSpPr>
        <p:spPr>
          <a:xfrm>
            <a:off x="914400" y="1752600"/>
            <a:ext cx="7772400" cy="4267200"/>
          </a:xfrm>
        </p:spPr>
        <p:txBody>
          <a:bodyPr/>
          <a:lstStyle/>
          <a:p>
            <a:pPr lvl="0"/>
            <a:r>
              <a:rPr lang="en-US" b="1" dirty="0"/>
              <a:t>Features:</a:t>
            </a:r>
            <a:r>
              <a:rPr lang="en-US" dirty="0"/>
              <a:t> A custom MERN stack application utilizing a document-oriented database (MongoDB). </a:t>
            </a:r>
          </a:p>
          <a:p>
            <a:pPr marL="0" lvl="0" indent="0">
              <a:buNone/>
            </a:pPr>
            <a:endParaRPr lang="en-US" dirty="0"/>
          </a:p>
          <a:p>
            <a:pPr lvl="0"/>
            <a:r>
              <a:rPr lang="en-US" b="1" dirty="0"/>
              <a:t>Improvements:</a:t>
            </a:r>
            <a:r>
              <a:rPr lang="en-US" dirty="0"/>
              <a:t> Bypasses rigid tables by utilizing JSON-like BSON documents. It natively supports arrays (for companions) and optional fields (for plot notes), allowing for dynamic data embedding without secondary relational lookups. </a:t>
            </a:r>
          </a:p>
        </p:txBody>
      </p:sp>
      <p:pic>
        <p:nvPicPr>
          <p:cNvPr id="4" name="Picture 7">
            <a:extLst>
              <a:ext uri="{FF2B5EF4-FFF2-40B4-BE49-F238E27FC236}">
                <a16:creationId xmlns:a16="http://schemas.microsoft.com/office/drawing/2014/main" id="{5FEE8148-149A-1A4E-4D4D-675394B418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1A77D7B8-11C1-2854-95A8-D600C9A1A743}"/>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1B21506D-1C56-3C36-B2C5-EB9E2C17DE2B}"/>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EE1D8218-D510-EEA8-66E0-B9ACFE287837}"/>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8" name="TextBox 7">
            <a:extLst>
              <a:ext uri="{FF2B5EF4-FFF2-40B4-BE49-F238E27FC236}">
                <a16:creationId xmlns:a16="http://schemas.microsoft.com/office/drawing/2014/main" id="{26666565-6E3F-A34D-DF62-8283EECE917F}"/>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4140260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B9B19-FD1D-263F-1134-E07A3ED42F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474FBB-DB5D-E3CE-84AC-555EBD7C8B9D}"/>
              </a:ext>
            </a:extLst>
          </p:cNvPr>
          <p:cNvSpPr>
            <a:spLocks noGrp="1"/>
          </p:cNvSpPr>
          <p:nvPr>
            <p:ph sz="quarter" idx="1"/>
          </p:nvPr>
        </p:nvSpPr>
        <p:spPr>
          <a:xfrm>
            <a:off x="914400" y="1752600"/>
            <a:ext cx="7772400" cy="4267200"/>
          </a:xfrm>
        </p:spPr>
        <p:txBody>
          <a:bodyPr>
            <a:normAutofit fontScale="92500"/>
          </a:bodyPr>
          <a:lstStyle/>
          <a:p>
            <a:pPr lvl="0"/>
            <a:r>
              <a:rPr lang="en-US" b="1" dirty="0"/>
              <a:t>Frontend Framework:</a:t>
            </a:r>
            <a:r>
              <a:rPr lang="en-US" dirty="0"/>
              <a:t> React.js (HTML/CSS/JS) </a:t>
            </a:r>
          </a:p>
          <a:p>
            <a:pPr lvl="0"/>
            <a:endParaRPr lang="en-US" dirty="0"/>
          </a:p>
          <a:p>
            <a:pPr lvl="0"/>
            <a:r>
              <a:rPr lang="en-US" b="1" dirty="0"/>
              <a:t>Backend Server:</a:t>
            </a:r>
            <a:r>
              <a:rPr lang="en-US" dirty="0"/>
              <a:t> Node.js with the Express.js framework </a:t>
            </a:r>
          </a:p>
          <a:p>
            <a:pPr lvl="0"/>
            <a:endParaRPr lang="en-US" dirty="0"/>
          </a:p>
          <a:p>
            <a:pPr lvl="0"/>
            <a:r>
              <a:rPr lang="en-US" b="1" dirty="0"/>
              <a:t>Database:</a:t>
            </a:r>
            <a:r>
              <a:rPr lang="en-US" dirty="0"/>
              <a:t> MongoDB (Local instance) with Mongoose ODM </a:t>
            </a:r>
          </a:p>
          <a:p>
            <a:pPr lvl="0"/>
            <a:endParaRPr lang="en-US" dirty="0"/>
          </a:p>
          <a:p>
            <a:pPr lvl="0"/>
            <a:r>
              <a:rPr lang="en-US" b="1" dirty="0"/>
              <a:t>API Communication:</a:t>
            </a:r>
            <a:r>
              <a:rPr lang="en-US" dirty="0"/>
              <a:t> Axios HTTP client </a:t>
            </a:r>
          </a:p>
          <a:p>
            <a:pPr lvl="0"/>
            <a:endParaRPr lang="en-US" dirty="0"/>
          </a:p>
          <a:p>
            <a:pPr lvl="0"/>
            <a:r>
              <a:rPr lang="en-US" b="1" dirty="0"/>
              <a:t>Development Environment:</a:t>
            </a:r>
            <a:r>
              <a:rPr lang="en-US" dirty="0"/>
              <a:t> Visual Studio Code</a:t>
            </a:r>
          </a:p>
        </p:txBody>
      </p:sp>
      <p:pic>
        <p:nvPicPr>
          <p:cNvPr id="4" name="Picture 7">
            <a:extLst>
              <a:ext uri="{FF2B5EF4-FFF2-40B4-BE49-F238E27FC236}">
                <a16:creationId xmlns:a16="http://schemas.microsoft.com/office/drawing/2014/main" id="{6B76A7F2-E197-1F5E-1FB4-E716418C75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AA3408EF-265A-49F2-7A6D-18F1B97F040B}"/>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862E8F11-2466-80FD-1C01-58E7748F343F}"/>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6670FDCE-B0D0-EA23-4AEE-7423015926C7}"/>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8" name="TextBox 7">
            <a:extLst>
              <a:ext uri="{FF2B5EF4-FFF2-40B4-BE49-F238E27FC236}">
                <a16:creationId xmlns:a16="http://schemas.microsoft.com/office/drawing/2014/main" id="{A8C7C0EC-3FFF-3E89-995F-2A0900BB5DCE}"/>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TECH STACK</a:t>
            </a:r>
          </a:p>
        </p:txBody>
      </p:sp>
    </p:spTree>
    <p:extLst>
      <p:ext uri="{BB962C8B-B14F-4D97-AF65-F5344CB8AC3E}">
        <p14:creationId xmlns:p14="http://schemas.microsoft.com/office/powerpoint/2010/main" val="4181901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E2292-1301-B811-FB7A-F609487E4D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45E1B1-C545-3103-8191-81113426988B}"/>
              </a:ext>
            </a:extLst>
          </p:cNvPr>
          <p:cNvSpPr>
            <a:spLocks noGrp="1"/>
          </p:cNvSpPr>
          <p:nvPr>
            <p:ph sz="quarter" idx="1"/>
          </p:nvPr>
        </p:nvSpPr>
        <p:spPr>
          <a:xfrm>
            <a:off x="914400" y="1752600"/>
            <a:ext cx="7772400" cy="4267200"/>
          </a:xfrm>
        </p:spPr>
        <p:txBody>
          <a:bodyPr>
            <a:normAutofit/>
          </a:bodyPr>
          <a:lstStyle/>
          <a:p>
            <a:pPr lvl="0"/>
            <a:r>
              <a:rPr lang="en-US" b="1" dirty="0"/>
              <a:t>Front-End Design:</a:t>
            </a:r>
            <a:r>
              <a:rPr lang="en-US" dirty="0"/>
              <a:t> A split-pane dashboard UI. The left pane features a dynamic data-entry form, while the right pane asynchronously maps the database state to visual component cards. </a:t>
            </a:r>
          </a:p>
          <a:p>
            <a:pPr lvl="0"/>
            <a:endParaRPr lang="en-US" dirty="0"/>
          </a:p>
          <a:p>
            <a:pPr lvl="0"/>
            <a:r>
              <a:rPr lang="en-US" b="1" dirty="0"/>
              <a:t>Back-End Design:</a:t>
            </a:r>
            <a:r>
              <a:rPr lang="en-US" dirty="0"/>
              <a:t> A decoupled RESTful API architecture. The Node/Express server listens on Port 5000, managing GET, POST, PUT, and DELETE requests and routing JSON payloads to the database.</a:t>
            </a:r>
          </a:p>
        </p:txBody>
      </p:sp>
      <p:pic>
        <p:nvPicPr>
          <p:cNvPr id="4" name="Picture 7">
            <a:extLst>
              <a:ext uri="{FF2B5EF4-FFF2-40B4-BE49-F238E27FC236}">
                <a16:creationId xmlns:a16="http://schemas.microsoft.com/office/drawing/2014/main" id="{299C180B-8D10-2B3E-F6C7-59B3B4A838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B6CFAB20-C324-3959-00B8-465CE2B8F793}"/>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67432804-FB2F-191A-39C2-CA180BF24EE7}"/>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0E2CD668-3917-5E37-B37F-A70F513A3643}"/>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8" name="TextBox 7">
            <a:extLst>
              <a:ext uri="{FF2B5EF4-FFF2-40B4-BE49-F238E27FC236}">
                <a16:creationId xmlns:a16="http://schemas.microsoft.com/office/drawing/2014/main" id="{31F9DF04-77A4-9E44-77E7-2EC34F866F9F}"/>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SYSTEM DESIGN</a:t>
            </a:r>
          </a:p>
        </p:txBody>
      </p:sp>
    </p:spTree>
    <p:extLst>
      <p:ext uri="{BB962C8B-B14F-4D97-AF65-F5344CB8AC3E}">
        <p14:creationId xmlns:p14="http://schemas.microsoft.com/office/powerpoint/2010/main" val="1653608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60656-B79B-0BD3-99A9-2858820044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F3D2E-FF23-929E-8EE8-8E7EFE794CF6}"/>
              </a:ext>
            </a:extLst>
          </p:cNvPr>
          <p:cNvSpPr>
            <a:spLocks noGrp="1"/>
          </p:cNvSpPr>
          <p:nvPr>
            <p:ph sz="quarter" idx="1"/>
          </p:nvPr>
        </p:nvSpPr>
        <p:spPr>
          <a:xfrm>
            <a:off x="914400" y="1752600"/>
            <a:ext cx="7772400" cy="4267200"/>
          </a:xfrm>
        </p:spPr>
        <p:txBody>
          <a:bodyPr>
            <a:normAutofit/>
          </a:bodyPr>
          <a:lstStyle/>
          <a:p>
            <a:pPr lvl="1"/>
            <a:r>
              <a:rPr lang="en-US" dirty="0"/>
              <a:t>_id: </a:t>
            </a:r>
            <a:r>
              <a:rPr lang="en-US" dirty="0" err="1"/>
              <a:t>ObjectID</a:t>
            </a:r>
            <a:r>
              <a:rPr lang="en-US" dirty="0"/>
              <a:t> (Primary Key) </a:t>
            </a:r>
          </a:p>
          <a:p>
            <a:pPr lvl="1"/>
            <a:r>
              <a:rPr lang="en-US" dirty="0"/>
              <a:t>name: String </a:t>
            </a:r>
          </a:p>
          <a:p>
            <a:pPr lvl="1"/>
            <a:r>
              <a:rPr lang="en-US" dirty="0"/>
              <a:t>role: String </a:t>
            </a:r>
          </a:p>
          <a:p>
            <a:pPr lvl="1"/>
            <a:r>
              <a:rPr lang="en-US" dirty="0" err="1"/>
              <a:t>currentLocation</a:t>
            </a:r>
            <a:r>
              <a:rPr lang="en-US" dirty="0"/>
              <a:t>: String </a:t>
            </a:r>
          </a:p>
          <a:p>
            <a:pPr lvl="1"/>
            <a:r>
              <a:rPr lang="en-US" dirty="0" err="1"/>
              <a:t>accompaniedBy</a:t>
            </a:r>
            <a:r>
              <a:rPr lang="en-US" dirty="0"/>
              <a:t>: Array of Strings (Data Embedding) </a:t>
            </a:r>
          </a:p>
          <a:p>
            <a:pPr lvl="1"/>
            <a:r>
              <a:rPr lang="en-US" dirty="0" err="1"/>
              <a:t>specialDetails</a:t>
            </a:r>
            <a:r>
              <a:rPr lang="en-US" dirty="0"/>
              <a:t>: String (Optional)</a:t>
            </a:r>
          </a:p>
        </p:txBody>
      </p:sp>
      <p:pic>
        <p:nvPicPr>
          <p:cNvPr id="4" name="Picture 7">
            <a:extLst>
              <a:ext uri="{FF2B5EF4-FFF2-40B4-BE49-F238E27FC236}">
                <a16:creationId xmlns:a16="http://schemas.microsoft.com/office/drawing/2014/main" id="{295967F6-4ECD-8B62-B81B-74A3984676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A3A22321-8D5E-C1BA-9558-44881361BE2B}"/>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A4EFE370-1E7C-F044-F474-2C1038A3B0D5}"/>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4E0C87AC-676F-ED90-0371-69A63A7D5B4A}"/>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8" name="TextBox 7">
            <a:extLst>
              <a:ext uri="{FF2B5EF4-FFF2-40B4-BE49-F238E27FC236}">
                <a16:creationId xmlns:a16="http://schemas.microsoft.com/office/drawing/2014/main" id="{F72B9BBF-0269-7C5C-3AD4-23C34258EF86}"/>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TABLE DESIGN</a:t>
            </a:r>
          </a:p>
        </p:txBody>
      </p:sp>
    </p:spTree>
    <p:extLst>
      <p:ext uri="{BB962C8B-B14F-4D97-AF65-F5344CB8AC3E}">
        <p14:creationId xmlns:p14="http://schemas.microsoft.com/office/powerpoint/2010/main" val="385744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5CAC4-22E2-3179-8DC0-2C9EC5C58C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7D5344-4EFF-0540-6289-B787A9EC0B07}"/>
              </a:ext>
            </a:extLst>
          </p:cNvPr>
          <p:cNvSpPr>
            <a:spLocks noGrp="1"/>
          </p:cNvSpPr>
          <p:nvPr>
            <p:ph sz="quarter" idx="1"/>
          </p:nvPr>
        </p:nvSpPr>
        <p:spPr>
          <a:xfrm>
            <a:off x="914400" y="1752600"/>
            <a:ext cx="7772400" cy="4267200"/>
          </a:xfrm>
        </p:spPr>
        <p:txBody>
          <a:bodyPr>
            <a:normAutofit/>
          </a:bodyPr>
          <a:lstStyle/>
          <a:p>
            <a:pPr lvl="0"/>
            <a:r>
              <a:rPr lang="en-US" b="1" dirty="0"/>
              <a:t>Integration:</a:t>
            </a:r>
            <a:r>
              <a:rPr lang="en-US" dirty="0"/>
              <a:t> The React frontend sends asynchronous JSON payloads via Axios to the Node server. </a:t>
            </a:r>
          </a:p>
          <a:p>
            <a:pPr lvl="0"/>
            <a:r>
              <a:rPr lang="en-US" b="1" dirty="0"/>
              <a:t>Key Modules:</a:t>
            </a:r>
            <a:endParaRPr lang="en-US" dirty="0"/>
          </a:p>
          <a:p>
            <a:pPr lvl="1"/>
            <a:r>
              <a:rPr lang="en-US" i="1" dirty="0"/>
              <a:t>Create/Write:</a:t>
            </a:r>
            <a:r>
              <a:rPr lang="en-US" dirty="0"/>
              <a:t> Parses comma-separated input strings into valid MongoDB arrays before saving. </a:t>
            </a:r>
          </a:p>
          <a:p>
            <a:pPr lvl="1"/>
            <a:r>
              <a:rPr lang="en-US" i="1" dirty="0"/>
              <a:t>Update:</a:t>
            </a:r>
            <a:r>
              <a:rPr lang="en-US" dirty="0"/>
              <a:t> Utilizes </a:t>
            </a:r>
            <a:r>
              <a:rPr lang="en-US" dirty="0" err="1"/>
              <a:t>findByIdAndUpdate</a:t>
            </a:r>
            <a:r>
              <a:rPr lang="en-US" dirty="0"/>
              <a:t> to overwrite existing memory blocks. </a:t>
            </a:r>
          </a:p>
          <a:p>
            <a:pPr lvl="1"/>
            <a:r>
              <a:rPr lang="en-US" i="1" dirty="0"/>
              <a:t>Delete:</a:t>
            </a:r>
            <a:r>
              <a:rPr lang="en-US" dirty="0"/>
              <a:t> Cascades </a:t>
            </a:r>
            <a:r>
              <a:rPr lang="en-US" dirty="0" err="1"/>
              <a:t>findByIdAndDelete</a:t>
            </a:r>
            <a:r>
              <a:rPr lang="en-US" dirty="0"/>
              <a:t> commands to permanently erase data. </a:t>
            </a:r>
          </a:p>
        </p:txBody>
      </p:sp>
      <p:pic>
        <p:nvPicPr>
          <p:cNvPr id="4" name="Picture 7">
            <a:extLst>
              <a:ext uri="{FF2B5EF4-FFF2-40B4-BE49-F238E27FC236}">
                <a16:creationId xmlns:a16="http://schemas.microsoft.com/office/drawing/2014/main" id="{6D42D314-4319-0DD7-CAB1-0209FC1C707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55C3D39E-233B-E370-6DB7-4DDBAEA2D5F3}"/>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DB31CB93-C8EB-771A-4899-3AB4B398E66B}"/>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C0660220-55C3-CE1E-C8E2-7A494B2ADCD9}"/>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8" name="TextBox 7">
            <a:extLst>
              <a:ext uri="{FF2B5EF4-FFF2-40B4-BE49-F238E27FC236}">
                <a16:creationId xmlns:a16="http://schemas.microsoft.com/office/drawing/2014/main" id="{9611E201-A748-4D39-165C-60B17ED78D58}"/>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SYSTEM IMPLEMENTATION</a:t>
            </a:r>
          </a:p>
        </p:txBody>
      </p:sp>
    </p:spTree>
    <p:extLst>
      <p:ext uri="{BB962C8B-B14F-4D97-AF65-F5344CB8AC3E}">
        <p14:creationId xmlns:p14="http://schemas.microsoft.com/office/powerpoint/2010/main" val="908802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F4BAE-F033-6089-6151-5FBB9ACCFB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143F4-142A-CE7B-0D19-6E7C9951727E}"/>
              </a:ext>
            </a:extLst>
          </p:cNvPr>
          <p:cNvSpPr>
            <a:spLocks noGrp="1"/>
          </p:cNvSpPr>
          <p:nvPr>
            <p:ph sz="quarter" idx="1"/>
          </p:nvPr>
        </p:nvSpPr>
        <p:spPr>
          <a:xfrm>
            <a:off x="914400" y="1752600"/>
            <a:ext cx="7772400" cy="4267200"/>
          </a:xfrm>
        </p:spPr>
        <p:txBody>
          <a:bodyPr>
            <a:normAutofit/>
          </a:bodyPr>
          <a:lstStyle/>
          <a:p>
            <a:pPr lvl="0"/>
            <a:r>
              <a:rPr lang="en-US" b="1" dirty="0"/>
              <a:t>Outputs:</a:t>
            </a:r>
            <a:r>
              <a:rPr lang="en-US" dirty="0"/>
              <a:t> Successfully implemented a localized NoSQL database with a fully functional control panel. </a:t>
            </a:r>
          </a:p>
          <a:p>
            <a:pPr lvl="0"/>
            <a:r>
              <a:rPr lang="en-US" b="1" dirty="0"/>
              <a:t>Performance:</a:t>
            </a:r>
            <a:r>
              <a:rPr lang="en-US" dirty="0"/>
              <a:t> The system achieves real-time DOM updates. When the database acknowledges a successful write, the frontend appends the new data packet instantly without a page refresh. </a:t>
            </a:r>
          </a:p>
        </p:txBody>
      </p:sp>
      <p:pic>
        <p:nvPicPr>
          <p:cNvPr id="4" name="Picture 7">
            <a:extLst>
              <a:ext uri="{FF2B5EF4-FFF2-40B4-BE49-F238E27FC236}">
                <a16:creationId xmlns:a16="http://schemas.microsoft.com/office/drawing/2014/main" id="{51A5D62A-286A-5734-126E-15B7259F07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146725B3-1454-165F-27F9-64FCCA6893D4}"/>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30701047-8559-4F68-CFB4-1E3B72B47796}"/>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177A4480-9778-4D66-1E47-4A457B1CC173}"/>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8" name="TextBox 7">
            <a:extLst>
              <a:ext uri="{FF2B5EF4-FFF2-40B4-BE49-F238E27FC236}">
                <a16:creationId xmlns:a16="http://schemas.microsoft.com/office/drawing/2014/main" id="{7EC3116F-C626-1A31-FCF1-509754DFBA8B}"/>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147352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0909-330B-70B5-270D-587AB19B9B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2505F-9BCC-E1EF-7465-434D8E5A0819}"/>
              </a:ext>
            </a:extLst>
          </p:cNvPr>
          <p:cNvSpPr>
            <a:spLocks noGrp="1"/>
          </p:cNvSpPr>
          <p:nvPr>
            <p:ph sz="quarter" idx="1"/>
          </p:nvPr>
        </p:nvSpPr>
        <p:spPr>
          <a:xfrm>
            <a:off x="914400" y="1752600"/>
            <a:ext cx="7772400" cy="4267200"/>
          </a:xfrm>
        </p:spPr>
        <p:txBody>
          <a:bodyPr>
            <a:normAutofit/>
          </a:bodyPr>
          <a:lstStyle/>
          <a:p>
            <a:pPr lvl="0"/>
            <a:r>
              <a:rPr lang="en-US" b="1" dirty="0"/>
              <a:t>Real-World Usage:</a:t>
            </a:r>
            <a:r>
              <a:rPr lang="en-US" dirty="0"/>
              <a:t> Continuity and plot-hole tracking for authors and screenwriters. </a:t>
            </a:r>
          </a:p>
          <a:p>
            <a:pPr lvl="0"/>
            <a:endParaRPr lang="en-US" dirty="0"/>
          </a:p>
          <a:p>
            <a:pPr lvl="0"/>
            <a:r>
              <a:rPr lang="en-US" b="1" dirty="0"/>
              <a:t>Industry Relevance:</a:t>
            </a:r>
            <a:r>
              <a:rPr lang="en-US" dirty="0"/>
              <a:t> Backend entity and inventory tracking for indie RPG video game development. </a:t>
            </a:r>
          </a:p>
        </p:txBody>
      </p:sp>
      <p:pic>
        <p:nvPicPr>
          <p:cNvPr id="4" name="Picture 7">
            <a:extLst>
              <a:ext uri="{FF2B5EF4-FFF2-40B4-BE49-F238E27FC236}">
                <a16:creationId xmlns:a16="http://schemas.microsoft.com/office/drawing/2014/main" id="{E8D0D614-13C6-7355-9C78-DA858AF0DD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4DDD908C-3DB1-3B50-26BB-D092EA708A1D}"/>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521C168C-027A-3F4A-50E7-E7F97F241558}"/>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72C305F1-C6B5-2C50-908D-C8DE2C30684C}"/>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8" name="TextBox 7">
            <a:extLst>
              <a:ext uri="{FF2B5EF4-FFF2-40B4-BE49-F238E27FC236}">
                <a16:creationId xmlns:a16="http://schemas.microsoft.com/office/drawing/2014/main" id="{6187944C-167D-76C4-B9B4-98D1AC05761D}"/>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APPLICATIONS</a:t>
            </a:r>
          </a:p>
        </p:txBody>
      </p:sp>
    </p:spTree>
    <p:extLst>
      <p:ext uri="{BB962C8B-B14F-4D97-AF65-F5344CB8AC3E}">
        <p14:creationId xmlns:p14="http://schemas.microsoft.com/office/powerpoint/2010/main" val="239030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0A6DC-9C92-7C97-F9C8-47357D4061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CB3BA4-1AF2-5D57-C044-4CF1110F74DD}"/>
              </a:ext>
            </a:extLst>
          </p:cNvPr>
          <p:cNvSpPr>
            <a:spLocks noGrp="1"/>
          </p:cNvSpPr>
          <p:nvPr>
            <p:ph sz="quarter" idx="1"/>
          </p:nvPr>
        </p:nvSpPr>
        <p:spPr>
          <a:xfrm>
            <a:off x="914400" y="1752600"/>
            <a:ext cx="7772400" cy="4267200"/>
          </a:xfrm>
        </p:spPr>
        <p:txBody>
          <a:bodyPr>
            <a:normAutofit/>
          </a:bodyPr>
          <a:lstStyle/>
          <a:p>
            <a:pPr lvl="0"/>
            <a:r>
              <a:rPr lang="en-US" b="1" dirty="0"/>
              <a:t>Summary:</a:t>
            </a:r>
            <a:r>
              <a:rPr lang="en-US" dirty="0"/>
              <a:t> The project proved that document-based databases (NoSQL) handle unstructured, variable data significantly better than traditional RDBMS structures, providing a robust backend for creative entity tracking. </a:t>
            </a:r>
          </a:p>
          <a:p>
            <a:pPr lvl="0"/>
            <a:r>
              <a:rPr lang="en-US" b="1" dirty="0"/>
              <a:t>Future Scope (AIML Integration):</a:t>
            </a:r>
            <a:r>
              <a:rPr lang="en-US" dirty="0"/>
              <a:t> The unstructured text data is ideal for Natural Language Processing (NLP). Future iterations will implement an AI model to scan plot notes and automatically generate graphical character relationship maps. </a:t>
            </a:r>
          </a:p>
        </p:txBody>
      </p:sp>
      <p:pic>
        <p:nvPicPr>
          <p:cNvPr id="4" name="Picture 7">
            <a:extLst>
              <a:ext uri="{FF2B5EF4-FFF2-40B4-BE49-F238E27FC236}">
                <a16:creationId xmlns:a16="http://schemas.microsoft.com/office/drawing/2014/main" id="{DB24FAE6-FDAA-6AFB-DD38-6EEC941679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3CCB216D-6244-2401-4D0C-BDD532364720}"/>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67DDEC2E-9BD6-CE42-DC33-228CA86FA036}"/>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0FF1F64C-7FB0-8458-B7DF-5811A0C27F6A}"/>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8" name="TextBox 7">
            <a:extLst>
              <a:ext uri="{FF2B5EF4-FFF2-40B4-BE49-F238E27FC236}">
                <a16:creationId xmlns:a16="http://schemas.microsoft.com/office/drawing/2014/main" id="{B19A0E3A-082C-0F18-A6AD-7E0CB429F524}"/>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CONCLUSION </a:t>
            </a:r>
          </a:p>
        </p:txBody>
      </p:sp>
    </p:spTree>
    <p:extLst>
      <p:ext uri="{BB962C8B-B14F-4D97-AF65-F5344CB8AC3E}">
        <p14:creationId xmlns:p14="http://schemas.microsoft.com/office/powerpoint/2010/main" val="353771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398D1-02C1-909C-7254-80F0CC70F4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3BE42-E1CB-1E1C-0FBA-2A22DF0BC32A}"/>
              </a:ext>
            </a:extLst>
          </p:cNvPr>
          <p:cNvSpPr>
            <a:spLocks noGrp="1"/>
          </p:cNvSpPr>
          <p:nvPr>
            <p:ph sz="quarter" idx="1"/>
          </p:nvPr>
        </p:nvSpPr>
        <p:spPr>
          <a:xfrm>
            <a:off x="914400" y="1752600"/>
            <a:ext cx="7772400" cy="4267200"/>
          </a:xfrm>
        </p:spPr>
        <p:txBody>
          <a:bodyPr>
            <a:normAutofit/>
          </a:bodyPr>
          <a:lstStyle/>
          <a:p>
            <a:pPr lvl="0"/>
            <a:r>
              <a:rPr lang="en-US" dirty="0"/>
              <a:t>[1] S. Bradshaw, E. Brazil, and K. Chodorow, </a:t>
            </a:r>
            <a:r>
              <a:rPr lang="en-US" i="1" dirty="0"/>
              <a:t>MongoDB: The Definitive Guide</a:t>
            </a:r>
            <a:r>
              <a:rPr lang="en-US" dirty="0"/>
              <a:t>, 3rd ed. Sebastopol, CA: O'Reilly Media, 2019. </a:t>
            </a:r>
          </a:p>
          <a:p>
            <a:pPr lvl="0"/>
            <a:r>
              <a:rPr lang="en-US" dirty="0"/>
              <a:t>[2] MongoDB Inc., "MongoDB Documentation," MongoDB. [Online]. Available: </a:t>
            </a:r>
            <a:r>
              <a:rPr lang="en-US" dirty="0">
                <a:hlinkClick r:id="rId2"/>
              </a:rPr>
              <a:t>https://docs.mongodb.com/</a:t>
            </a:r>
            <a:r>
              <a:rPr lang="en-US" dirty="0"/>
              <a:t>. </a:t>
            </a:r>
          </a:p>
          <a:p>
            <a:pPr lvl="0"/>
            <a:r>
              <a:rPr lang="en-US" dirty="0"/>
              <a:t>[3] B. Dayley, </a:t>
            </a:r>
            <a:r>
              <a:rPr lang="en-US" i="1" dirty="0"/>
              <a:t>Node.js, MongoDB and Angular Web Development</a:t>
            </a:r>
            <a:r>
              <a:rPr lang="en-US" dirty="0"/>
              <a:t>, 2nd ed. Boston: Addison-Wesley, 2018.</a:t>
            </a:r>
          </a:p>
        </p:txBody>
      </p:sp>
      <p:pic>
        <p:nvPicPr>
          <p:cNvPr id="4" name="Picture 7">
            <a:extLst>
              <a:ext uri="{FF2B5EF4-FFF2-40B4-BE49-F238E27FC236}">
                <a16:creationId xmlns:a16="http://schemas.microsoft.com/office/drawing/2014/main" id="{192B9FA8-507F-382A-DFE2-44073255F7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D4B8E4F9-39F6-C27A-0080-F7776DAEA8AC}"/>
              </a:ext>
            </a:extLst>
          </p:cNvPr>
          <p:cNvSpPr>
            <a:spLocks noGrp="1"/>
          </p:cNvSpPr>
          <p:nvPr>
            <p:ph type="dt" sz="half" idx="10"/>
          </p:nvPr>
        </p:nvSpPr>
        <p:spPr/>
        <p:txBody>
          <a:bodyPr/>
          <a:lstStyle/>
          <a:p>
            <a:fld id="{551408E3-938A-4B16-B411-E08D17ED5EA2}" type="datetime1">
              <a:rPr lang="en-US" smtClean="0"/>
              <a:t>10/12/2026</a:t>
            </a:fld>
            <a:endParaRPr lang="en-US"/>
          </a:p>
        </p:txBody>
      </p:sp>
      <p:sp>
        <p:nvSpPr>
          <p:cNvPr id="6" name="Footer Placeholder 5">
            <a:extLst>
              <a:ext uri="{FF2B5EF4-FFF2-40B4-BE49-F238E27FC236}">
                <a16:creationId xmlns:a16="http://schemas.microsoft.com/office/drawing/2014/main" id="{C9ED3F50-6FAB-2F06-4544-2A89C4D6EEEE}"/>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3391D310-4507-2EB4-6B58-2500F3FFD36D}"/>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8" name="TextBox 7">
            <a:extLst>
              <a:ext uri="{FF2B5EF4-FFF2-40B4-BE49-F238E27FC236}">
                <a16:creationId xmlns:a16="http://schemas.microsoft.com/office/drawing/2014/main" id="{83A538F3-B4A5-DD28-3E82-4FCEFAE4AB0E}"/>
              </a:ext>
            </a:extLst>
          </p:cNvPr>
          <p:cNvSpPr txBox="1"/>
          <p:nvPr/>
        </p:nvSpPr>
        <p:spPr>
          <a:xfrm>
            <a:off x="1447800" y="533400"/>
            <a:ext cx="72390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REFERENCES </a:t>
            </a:r>
          </a:p>
        </p:txBody>
      </p:sp>
    </p:spTree>
    <p:extLst>
      <p:ext uri="{BB962C8B-B14F-4D97-AF65-F5344CB8AC3E}">
        <p14:creationId xmlns:p14="http://schemas.microsoft.com/office/powerpoint/2010/main" val="22013506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89</TotalTime>
  <Words>940</Words>
  <Application>Microsoft Office PowerPoint</Application>
  <PresentationFormat>On-screen Show (4:3)</PresentationFormat>
  <Paragraphs>133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Franklin Gothic Book</vt:lpstr>
      <vt:lpstr>Perpetua</vt:lpstr>
      <vt:lpstr>Times New Roman</vt:lpstr>
      <vt:lpstr>Wingdings 2</vt:lpstr>
      <vt:lpstr>Equity</vt:lpstr>
      <vt:lpstr>Interactive Story Continuity and Entity Tracking Database</vt:lpstr>
      <vt:lpstr>Presentation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Presentation  on  “Project Title”</dc:title>
  <dc:creator>Vrushali</dc:creator>
  <cp:lastModifiedBy>Vedant k</cp:lastModifiedBy>
  <cp:revision>26</cp:revision>
  <dcterms:created xsi:type="dcterms:W3CDTF">2006-08-16T00:00:00Z</dcterms:created>
  <dcterms:modified xsi:type="dcterms:W3CDTF">2026-10-11T22:06:39Z</dcterms:modified>
</cp:coreProperties>
</file>